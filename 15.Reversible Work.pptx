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834" autoAdjust="0"/>
  </p:normalViewPr>
  <p:slideViewPr>
    <p:cSldViewPr snapToGrid="0">
      <p:cViewPr varScale="1">
        <p:scale>
          <a:sx n="124" d="100"/>
          <a:sy n="124" d="100"/>
        </p:scale>
        <p:origin x="122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61" name="Google Shape;16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Reducing work because v is low means gas must be cooled as much as possible.</a:t>
            </a:r>
            <a:endParaRPr/>
          </a:p>
          <a:p>
            <a:pPr marL="0" marR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Area to left of curve is work, so easy to see which is larger and smaller</a:t>
            </a:r>
            <a:endParaRPr/>
          </a:p>
          <a:p>
            <a:pPr marL="0" marR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Isothermal has max cooling therefore minimum work; adiabatic has no cooling therefore maximum work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2" name="Google Shape;19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Analogous to Carnot cycle (ideal cycle) to let us compare actual efficiency or COP with ideal; isentropic efficiency lets us compare actual device to ideal one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4" name="Google Shape;21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Notice ws in numerator, because isentropic work input &lt; actual work input</a:t>
            </a:r>
            <a:endParaRPr/>
          </a:p>
          <a:p>
            <a:pPr marL="0" marR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No, can’t use isentropic eff. If compressor is cooled to reduce work because now it is non-adiabatic.</a:t>
            </a:r>
            <a:endParaRPr/>
          </a:p>
          <a:p>
            <a:pPr marL="0" marR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Yes, can use isothermal eff. Equation if compressor is adiabatic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3" name="Google Shape;243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 exit pressure is the same, but exit state is different (less subcooled or more superheated)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 Slaydı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ş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 ve İçerik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ölüm Üstbilgisi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28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İki İçerik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4038600" cy="498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36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4648200" y="1143000"/>
            <a:ext cx="4038600" cy="498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36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rşılaştırma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32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302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32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32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302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32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alnızca Başlık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lı İçerik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28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18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lı Resim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28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18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, Dikey Metin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080418" y="-480219"/>
            <a:ext cx="49831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key Başlık ve Metin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gif"/><Relationship Id="rId4" Type="http://schemas.openxmlformats.org/officeDocument/2006/relationships/image" Target="../media/image2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7" Type="http://schemas.openxmlformats.org/officeDocument/2006/relationships/image" Target="../media/image8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gif"/><Relationship Id="rId5" Type="http://schemas.openxmlformats.org/officeDocument/2006/relationships/image" Target="../media/image6.gif"/><Relationship Id="rId4" Type="http://schemas.openxmlformats.org/officeDocument/2006/relationships/image" Target="../media/image5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7" Type="http://schemas.openxmlformats.org/officeDocument/2006/relationships/image" Target="../media/image12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gif"/><Relationship Id="rId5" Type="http://schemas.openxmlformats.org/officeDocument/2006/relationships/image" Target="../media/image10.gif"/><Relationship Id="rId4" Type="http://schemas.openxmlformats.org/officeDocument/2006/relationships/image" Target="../media/image9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longapalooza.github.io/ENGR2223/15.Example%201.pdf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gif"/><Relationship Id="rId3" Type="http://schemas.openxmlformats.org/officeDocument/2006/relationships/image" Target="../media/image14.png"/><Relationship Id="rId7" Type="http://schemas.openxmlformats.org/officeDocument/2006/relationships/image" Target="../media/image17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gif"/><Relationship Id="rId5" Type="http://schemas.openxmlformats.org/officeDocument/2006/relationships/image" Target="../media/image3.gif"/><Relationship Id="rId10" Type="http://schemas.openxmlformats.org/officeDocument/2006/relationships/image" Target="../media/image20.gif"/><Relationship Id="rId4" Type="http://schemas.openxmlformats.org/officeDocument/2006/relationships/image" Target="../media/image15.gif"/><Relationship Id="rId9" Type="http://schemas.openxmlformats.org/officeDocument/2006/relationships/image" Target="../media/image19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longapalooza.github.io/ENGR2223/15.Example%202.pdf" TargetMode="External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longapalooza.github.io/ENGR2223/15.Example%203.pdf" TargetMode="External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31.png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longapalooza.github.io/ENGR2223/15.Example%204.pdf" TargetMode="External"/><Relationship Id="rId4" Type="http://schemas.openxmlformats.org/officeDocument/2006/relationships/image" Target="../media/image49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1600200" y="2438400"/>
            <a:ext cx="59436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Topic 15</a:t>
            </a:r>
            <a:br>
              <a:rPr lang="en-US" sz="32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 b="1" i="0" u="none" strike="noStrike" cap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Reversible Work</a:t>
            </a:r>
            <a:endParaRPr sz="3200" b="1" i="0" u="none" strike="noStrike" cap="none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0" y="5257800"/>
            <a:ext cx="9144000" cy="762000"/>
          </a:xfrm>
          <a:prstGeom prst="rect">
            <a:avLst/>
          </a:prstGeom>
          <a:solidFill>
            <a:srgbClr val="8AC6C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9966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1" i="0" u="none" strike="noStrike" cap="none" dirty="0">
              <a:solidFill>
                <a:srgbClr val="99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0" y="304800"/>
            <a:ext cx="9144000" cy="140335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Thermodynamics: An Engineering Approach </a:t>
            </a:r>
            <a:endParaRPr sz="2200" b="1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8th Edition</a:t>
            </a:r>
            <a:br>
              <a:rPr lang="en-US" sz="24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Yunus A. Çengel, Michael A. Boles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McGraw-Hill, 2015</a:t>
            </a:r>
            <a:endParaRPr sz="1800" b="1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609600" y="177800"/>
            <a:ext cx="2255838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304800" y="838200"/>
            <a:ext cx="8229600" cy="232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Examine a special class of idealized processes, called </a:t>
            </a:r>
            <a:r>
              <a:rPr lang="en-US" sz="22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isentropic processes</a:t>
            </a:r>
            <a:r>
              <a:rPr lang="en-US" sz="2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develop the property relations for these processes.</a:t>
            </a:r>
            <a:endParaRPr dirty="0"/>
          </a:p>
          <a:p>
            <a:pPr marL="342900" marR="0" lvl="0" indent="-342900" algn="l" rtl="0">
              <a:spcBef>
                <a:spcPts val="66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Derive the reversible steady-flow work relations.</a:t>
            </a:r>
            <a:endParaRPr dirty="0"/>
          </a:p>
          <a:p>
            <a:pPr marL="342900" marR="0" lvl="0" indent="-342900" algn="l" rtl="0">
              <a:spcBef>
                <a:spcPts val="66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 the isentropic efficiencies for various steady-flow devices.</a:t>
            </a:r>
          </a:p>
          <a:p>
            <a:pPr marL="342900" indent="-34290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Tx/>
              <a:buChar char="•"/>
            </a:pPr>
            <a:r>
              <a:rPr lang="en-US" sz="2200" dirty="0"/>
              <a:t>Apply the second law of thermodynamics to processes.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304800" y="207963"/>
            <a:ext cx="7391400" cy="57943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REVERSIBLE STEADY-FLOW WORK</a:t>
            </a:r>
            <a:endParaRPr/>
          </a:p>
        </p:txBody>
      </p:sp>
      <p:pic>
        <p:nvPicPr>
          <p:cNvPr id="105" name="Google Shape;10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57900" y="847725"/>
            <a:ext cx="2933700" cy="585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457200" y="1099525"/>
            <a:ext cx="50067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Recall the formula for boundary work:</a:t>
            </a:r>
            <a:endParaRPr sz="2000"/>
          </a:p>
        </p:txBody>
      </p:sp>
      <p:sp>
        <p:nvSpPr>
          <p:cNvPr id="107" name="Google Shape;107;p15"/>
          <p:cNvSpPr txBox="1"/>
          <p:nvPr/>
        </p:nvSpPr>
        <p:spPr>
          <a:xfrm>
            <a:off x="457200" y="2436100"/>
            <a:ext cx="5410200" cy="10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This was useful for closed systems like piston cylinders. But what about open, steady flow systems like turbines?</a:t>
            </a:r>
            <a:endParaRPr sz="2000"/>
          </a:p>
        </p:txBody>
      </p:sp>
      <p:sp>
        <p:nvSpPr>
          <p:cNvPr id="108" name="Google Shape;108;p15"/>
          <p:cNvSpPr txBox="1"/>
          <p:nvPr/>
        </p:nvSpPr>
        <p:spPr>
          <a:xfrm>
            <a:off x="457200" y="3524194"/>
            <a:ext cx="54102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Total Energy Balance (differential form):</a:t>
            </a:r>
            <a:endParaRPr sz="2000"/>
          </a:p>
        </p:txBody>
      </p:sp>
      <p:pic>
        <p:nvPicPr>
          <p:cNvPr id="109" name="Google Shape;10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2650" y="1683613"/>
            <a:ext cx="1819275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4438" y="4135288"/>
            <a:ext cx="3895725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Reversible Steady-flow Work</a:t>
            </a:r>
            <a:endParaRPr sz="32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6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3700" y="1211113"/>
            <a:ext cx="30765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5513" y="1887551"/>
            <a:ext cx="45529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71775" y="2563963"/>
            <a:ext cx="34004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457200" y="3240400"/>
            <a:ext cx="82296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If kinetic and potential energies are ignored, then:</a:t>
            </a:r>
            <a:endParaRPr sz="2000"/>
          </a:p>
        </p:txBody>
      </p:sp>
      <p:pic>
        <p:nvPicPr>
          <p:cNvPr id="121" name="Google Shape;121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05163" y="3824488"/>
            <a:ext cx="2533650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5675" y="4712938"/>
            <a:ext cx="2152650" cy="75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Reversible Steady-flow Work</a:t>
            </a:r>
            <a:endParaRPr/>
          </a:p>
        </p:txBody>
      </p:sp>
      <p:sp>
        <p:nvSpPr>
          <p:cNvPr id="128" name="Google Shape;128;p17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1775" y="892338"/>
            <a:ext cx="34004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0" y="1421150"/>
            <a:ext cx="36576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38300" y="2035675"/>
            <a:ext cx="5867400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28775" y="3040713"/>
            <a:ext cx="5686425" cy="75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457200" y="3799891"/>
            <a:ext cx="82296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Look familiar?</a:t>
            </a:r>
            <a:endParaRPr sz="2000"/>
          </a:p>
        </p:txBody>
      </p:sp>
      <p:sp>
        <p:nvSpPr>
          <p:cNvPr id="134" name="Google Shape;134;p17"/>
          <p:cNvSpPr txBox="1"/>
          <p:nvPr/>
        </p:nvSpPr>
        <p:spPr>
          <a:xfrm>
            <a:off x="457200" y="4383991"/>
            <a:ext cx="82296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What if there is no work?</a:t>
            </a:r>
            <a:endParaRPr sz="2000"/>
          </a:p>
        </p:txBody>
      </p:sp>
      <p:pic>
        <p:nvPicPr>
          <p:cNvPr id="135" name="Google Shape;135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52625" y="4968112"/>
            <a:ext cx="5038725" cy="7524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B3295AF-039C-473C-9ED5-35CFD31E3EEF}"/>
              </a:ext>
            </a:extLst>
          </p:cNvPr>
          <p:cNvSpPr/>
          <p:nvPr/>
        </p:nvSpPr>
        <p:spPr>
          <a:xfrm>
            <a:off x="3339919" y="5720587"/>
            <a:ext cx="24641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buNone/>
            </a:pPr>
            <a:r>
              <a:rPr lang="en-US" sz="2000" b="1" u="sng" dirty="0"/>
              <a:t>Bernoulli Equation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>
            <a:spLocks noGrp="1"/>
          </p:cNvSpPr>
          <p:nvPr>
            <p:ph type="title"/>
          </p:nvPr>
        </p:nvSpPr>
        <p:spPr>
          <a:xfrm>
            <a:off x="453189" y="16668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Compressing a Liquid vs. Gas</a:t>
            </a:r>
            <a:endParaRPr sz="32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8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806450"/>
            <a:ext cx="3600450" cy="591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>
            <a:spLocks noGrp="1"/>
          </p:cNvSpPr>
          <p:nvPr>
            <p:ph type="body" idx="1"/>
          </p:nvPr>
        </p:nvSpPr>
        <p:spPr>
          <a:xfrm>
            <a:off x="3752725" y="1143000"/>
            <a:ext cx="5229600" cy="1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/>
              <a:t>Determine the work input required to compress steam isentropically from 100 kPa to 1 MPa, assuming that the steam exists as (a) saturated liquid and (b) as saturated vapor.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 txBox="1">
            <a:spLocks noGrp="1"/>
          </p:cNvSpPr>
          <p:nvPr>
            <p:ph type="title"/>
          </p:nvPr>
        </p:nvSpPr>
        <p:spPr>
          <a:xfrm>
            <a:off x="5126117" y="3946375"/>
            <a:ext cx="2482800" cy="6399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hlinkClick r:id="rId4"/>
              </a:rPr>
              <a:t>Solution</a:t>
            </a:r>
            <a:endParaRPr sz="32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>
            <a:spLocks noGrp="1"/>
          </p:cNvSpPr>
          <p:nvPr>
            <p:ph type="title"/>
          </p:nvPr>
        </p:nvSpPr>
        <p:spPr>
          <a:xfrm>
            <a:off x="457200" y="381000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Proof that Reversible Process is more Efficient</a:t>
            </a:r>
            <a:endParaRPr sz="2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9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57800" y="1219200"/>
            <a:ext cx="3857625" cy="477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963" y="1419425"/>
            <a:ext cx="4456276" cy="32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3800" y="1963850"/>
            <a:ext cx="4522623" cy="32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4963" y="2665800"/>
            <a:ext cx="4080313" cy="32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4950" y="3190912"/>
            <a:ext cx="4080325" cy="320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3663" y="4511850"/>
            <a:ext cx="4002908" cy="32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859200" y="3954462"/>
            <a:ext cx="1691837" cy="32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859200" y="5069250"/>
            <a:ext cx="1691825" cy="845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304800" y="228600"/>
            <a:ext cx="8001000" cy="57943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MINIMIZING THE COMPRESSOR WORK</a:t>
            </a:r>
            <a:endParaRPr/>
          </a:p>
        </p:txBody>
      </p:sp>
      <p:grpSp>
        <p:nvGrpSpPr>
          <p:cNvPr id="166" name="Google Shape;166;p20"/>
          <p:cNvGrpSpPr/>
          <p:nvPr/>
        </p:nvGrpSpPr>
        <p:grpSpPr>
          <a:xfrm>
            <a:off x="152400" y="1066800"/>
            <a:ext cx="4637088" cy="4084638"/>
            <a:chOff x="336" y="672"/>
            <a:chExt cx="2921" cy="2573"/>
          </a:xfrm>
        </p:grpSpPr>
        <p:pic>
          <p:nvPicPr>
            <p:cNvPr id="167" name="Google Shape;167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17" y="720"/>
              <a:ext cx="1023" cy="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2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84" y="1488"/>
              <a:ext cx="2842" cy="3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2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84" y="2160"/>
              <a:ext cx="2873" cy="3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2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84" y="2880"/>
              <a:ext cx="1085" cy="3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" name="Google Shape;171;p20"/>
            <p:cNvSpPr/>
            <p:nvPr/>
          </p:nvSpPr>
          <p:spPr>
            <a:xfrm>
              <a:off x="336" y="1248"/>
              <a:ext cx="1840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Isentropic (</a:t>
              </a:r>
              <a:r>
                <a:rPr lang="en-US"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Pv</a:t>
              </a:r>
              <a:r>
                <a:rPr lang="en-US" sz="1800" i="1" baseline="30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lang="en-US"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constant):</a:t>
              </a:r>
              <a:endParaRPr/>
            </a:p>
          </p:txBody>
        </p:sp>
        <p:sp>
          <p:nvSpPr>
            <p:cNvPr id="172" name="Google Shape;172;p20"/>
            <p:cNvSpPr/>
            <p:nvPr/>
          </p:nvSpPr>
          <p:spPr>
            <a:xfrm>
              <a:off x="336" y="1929"/>
              <a:ext cx="1853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Polytropic (</a:t>
              </a:r>
              <a:r>
                <a:rPr lang="en-US"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Pv</a:t>
              </a:r>
              <a:r>
                <a:rPr lang="en-US" sz="1800" i="1" baseline="30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r>
                <a:rPr lang="en-US"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 constant):</a:t>
              </a:r>
              <a:endParaRPr/>
            </a:p>
          </p:txBody>
        </p:sp>
        <p:sp>
          <p:nvSpPr>
            <p:cNvPr id="173" name="Google Shape;173;p20"/>
            <p:cNvSpPr/>
            <p:nvPr/>
          </p:nvSpPr>
          <p:spPr>
            <a:xfrm>
              <a:off x="336" y="2640"/>
              <a:ext cx="1840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Isothermal (</a:t>
              </a:r>
              <a:r>
                <a:rPr lang="en-US" sz="18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Pv =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constant):</a:t>
              </a:r>
              <a:endParaRPr/>
            </a:p>
          </p:txBody>
        </p:sp>
        <p:sp>
          <p:nvSpPr>
            <p:cNvPr id="174" name="Google Shape;174;p20"/>
            <p:cNvSpPr txBox="1"/>
            <p:nvPr/>
          </p:nvSpPr>
          <p:spPr>
            <a:xfrm>
              <a:off x="1440" y="672"/>
              <a:ext cx="1152" cy="5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When kinetic and potential energies are negligible</a:t>
              </a:r>
              <a:endParaRPr/>
            </a:p>
          </p:txBody>
        </p:sp>
      </p:grpSp>
      <p:sp>
        <p:nvSpPr>
          <p:cNvPr id="175" name="Google Shape;175;p20"/>
          <p:cNvSpPr/>
          <p:nvPr/>
        </p:nvSpPr>
        <p:spPr>
          <a:xfrm>
            <a:off x="228600" y="5343525"/>
            <a:ext cx="4648200" cy="1209675"/>
          </a:xfrm>
          <a:prstGeom prst="rect">
            <a:avLst/>
          </a:prstGeom>
          <a:solidFill>
            <a:srgbClr val="FFCC99"/>
          </a:solidFill>
          <a:ln w="1905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adiabatic compression (</a:t>
            </a:r>
            <a:r>
              <a:rPr lang="en-US"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Pv</a:t>
            </a:r>
            <a:r>
              <a:rPr lang="en-US" sz="1800" i="1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constant) requires the maximum work and the isothermal compression (</a:t>
            </a:r>
            <a:r>
              <a:rPr lang="en-US"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 =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constant) requires the minimum.</a:t>
            </a:r>
            <a:r>
              <a:rPr lang="en-US" sz="1800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Why?</a:t>
            </a:r>
            <a:endParaRPr/>
          </a:p>
        </p:txBody>
      </p:sp>
      <p:pic>
        <p:nvPicPr>
          <p:cNvPr id="176" name="Google Shape;176;p2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53000" y="971550"/>
            <a:ext cx="4057650" cy="491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152400" y="152400"/>
            <a:ext cx="2362200" cy="163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Multistage Compression with Intercooling</a:t>
            </a:r>
            <a:endParaRPr/>
          </a:p>
        </p:txBody>
      </p:sp>
      <p:sp>
        <p:nvSpPr>
          <p:cNvPr id="183" name="Google Shape;183;p21"/>
          <p:cNvSpPr/>
          <p:nvPr/>
        </p:nvSpPr>
        <p:spPr>
          <a:xfrm>
            <a:off x="152400" y="1905000"/>
            <a:ext cx="2590800" cy="17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gas is compressed in stages and cooled between each stage by passing it through a heat exchanger called an</a:t>
            </a:r>
            <a:r>
              <a:rPr lang="en-US" sz="1800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1" u="sng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intercooler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184" name="Google Shape;184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4648200"/>
            <a:ext cx="6189663" cy="1166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051550"/>
            <a:ext cx="3079750" cy="65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/>
          <p:nvPr/>
        </p:nvSpPr>
        <p:spPr>
          <a:xfrm>
            <a:off x="3429000" y="5865813"/>
            <a:ext cx="5105400" cy="915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minimize compression work during two-stage compression, the pressure ratio across each stage of the compressor must be the same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187" name="Google Shape;187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43200" y="228600"/>
            <a:ext cx="3228975" cy="340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24575" y="228600"/>
            <a:ext cx="2943225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72150" y="3657600"/>
            <a:ext cx="3295650" cy="84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152400" y="155575"/>
            <a:ext cx="5080200" cy="954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ISENTROPIC EFFICIENCIES OF STEADY-FLOW DEVICES</a:t>
            </a:r>
            <a:endParaRPr/>
          </a:p>
        </p:txBody>
      </p:sp>
      <p:sp>
        <p:nvSpPr>
          <p:cNvPr id="197" name="Google Shape;197;p22"/>
          <p:cNvSpPr/>
          <p:nvPr/>
        </p:nvSpPr>
        <p:spPr>
          <a:xfrm>
            <a:off x="4191000" y="4122738"/>
            <a:ext cx="3733800" cy="8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sng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Isentropic Efficiency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of Turbines</a:t>
            </a:r>
            <a:endParaRPr/>
          </a:p>
        </p:txBody>
      </p:sp>
      <p:pic>
        <p:nvPicPr>
          <p:cNvPr id="198" name="Google Shape;198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51338" y="5970588"/>
            <a:ext cx="1820862" cy="735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4825" y="5148263"/>
            <a:ext cx="3381375" cy="642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24475" y="133350"/>
            <a:ext cx="3590925" cy="375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" y="1676400"/>
            <a:ext cx="3933825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Isentropic Efficiency of a Turbine</a:t>
            </a:r>
            <a:endParaRPr sz="32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3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Steam enters an adiabatic turbine steadily at 3 MPa and 400</a:t>
            </a:r>
            <a:r>
              <a:rPr lang="en-US" sz="2000" b="0" i="0" u="none" strike="noStrike" cap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and leaves at 50 kPa and 100</a:t>
            </a:r>
            <a:r>
              <a:rPr lang="en-US" sz="2000" b="0" i="0" u="none" strike="noStrike" cap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 If the power output of the turbine is 2 MW, determine the isentropic efficiency and the mass flow rate of the steam.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3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2792931"/>
            <a:ext cx="4171950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91413" y="2591385"/>
            <a:ext cx="2686050" cy="35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3"/>
          <p:cNvSpPr txBox="1">
            <a:spLocks noGrp="1"/>
          </p:cNvSpPr>
          <p:nvPr>
            <p:ph type="title"/>
          </p:nvPr>
        </p:nvSpPr>
        <p:spPr>
          <a:xfrm>
            <a:off x="2437467" y="2591375"/>
            <a:ext cx="2482800" cy="6399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hlinkClick r:id="rId5"/>
              </a:rPr>
              <a:t>Solution</a:t>
            </a:r>
            <a:endParaRPr sz="32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4"/>
          <p:cNvSpPr/>
          <p:nvPr/>
        </p:nvSpPr>
        <p:spPr>
          <a:xfrm>
            <a:off x="2514600" y="4965700"/>
            <a:ext cx="1828800" cy="17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Compressors are sometimes intentionally cooled to minimize the work input.</a:t>
            </a:r>
            <a:endParaRPr/>
          </a:p>
        </p:txBody>
      </p:sp>
      <p:grpSp>
        <p:nvGrpSpPr>
          <p:cNvPr id="219" name="Google Shape;219;p24"/>
          <p:cNvGrpSpPr/>
          <p:nvPr/>
        </p:nvGrpSpPr>
        <p:grpSpPr>
          <a:xfrm>
            <a:off x="304800" y="785813"/>
            <a:ext cx="3943350" cy="2871787"/>
            <a:chOff x="336" y="591"/>
            <a:chExt cx="2484" cy="1809"/>
          </a:xfrm>
        </p:grpSpPr>
        <p:sp>
          <p:nvSpPr>
            <p:cNvPr id="220" name="Google Shape;220;p24"/>
            <p:cNvSpPr txBox="1"/>
            <p:nvPr/>
          </p:nvSpPr>
          <p:spPr>
            <a:xfrm>
              <a:off x="912" y="1996"/>
              <a:ext cx="864" cy="4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Isothermal efficiency</a:t>
              </a:r>
              <a:endParaRPr/>
            </a:p>
          </p:txBody>
        </p:sp>
        <p:pic>
          <p:nvPicPr>
            <p:cNvPr id="221" name="Google Shape;221;p2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36" y="1056"/>
              <a:ext cx="960" cy="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2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36" y="1536"/>
              <a:ext cx="1458" cy="4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p2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36" y="2016"/>
              <a:ext cx="571" cy="3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4" name="Google Shape;224;p24"/>
            <p:cNvSpPr txBox="1"/>
            <p:nvPr/>
          </p:nvSpPr>
          <p:spPr>
            <a:xfrm>
              <a:off x="1776" y="1536"/>
              <a:ext cx="528" cy="4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For a pump</a:t>
              </a:r>
              <a:endParaRPr/>
            </a:p>
          </p:txBody>
        </p:sp>
        <p:sp>
          <p:nvSpPr>
            <p:cNvPr id="225" name="Google Shape;225;p24"/>
            <p:cNvSpPr txBox="1"/>
            <p:nvPr/>
          </p:nvSpPr>
          <p:spPr>
            <a:xfrm>
              <a:off x="1296" y="1008"/>
              <a:ext cx="1152" cy="5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When kinetic and potential energies are negligible</a:t>
              </a:r>
              <a:endParaRPr/>
            </a:p>
          </p:txBody>
        </p:sp>
        <p:pic>
          <p:nvPicPr>
            <p:cNvPr id="226" name="Google Shape;226;p2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36" y="591"/>
              <a:ext cx="2484" cy="3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7" name="Google Shape;227;p24"/>
          <p:cNvSpPr txBox="1"/>
          <p:nvPr/>
        </p:nvSpPr>
        <p:spPr>
          <a:xfrm>
            <a:off x="4419600" y="5486400"/>
            <a:ext cx="4191000" cy="1265238"/>
          </a:xfrm>
          <a:prstGeom prst="rect">
            <a:avLst/>
          </a:prstGeom>
          <a:solidFill>
            <a:srgbClr val="FFCC99"/>
          </a:solidFill>
          <a:ln w="1905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you use isentropic efficiency for a non-adiabatic compressor? </a:t>
            </a:r>
            <a:endParaRPr/>
          </a:p>
          <a:p>
            <a:pPr marL="0" marR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Can you use isothermal efficiency for an adiabatic compressor?</a:t>
            </a:r>
            <a:endParaRPr/>
          </a:p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95850" y="114300"/>
            <a:ext cx="3943350" cy="529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4"/>
          <p:cNvSpPr/>
          <p:nvPr/>
        </p:nvSpPr>
        <p:spPr>
          <a:xfrm>
            <a:off x="57150" y="76200"/>
            <a:ext cx="763905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Isentropic Efficiencies of Compressors and Pumps</a:t>
            </a:r>
            <a:endParaRPr/>
          </a:p>
        </p:txBody>
      </p:sp>
      <p:pic>
        <p:nvPicPr>
          <p:cNvPr id="230" name="Google Shape;230;p2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04800" y="3886200"/>
            <a:ext cx="2200275" cy="280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Effect of Efficiency on Compressor Power Input</a:t>
            </a:r>
            <a:endParaRPr sz="24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5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Air is compressed by an adiabatic compressor from 100 kPa and 12</a:t>
            </a:r>
            <a:r>
              <a:rPr lang="en-US" sz="2000" b="0" i="0" u="none" strike="noStrike" cap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to a pressure of 800 kPa at a steady rate of 0.2 kg/s. If the isentropic efficiency is 80%, determine the air temperature at the exit and the require power input for the compressor.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5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365375"/>
            <a:ext cx="4086225" cy="417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53950" y="3083788"/>
            <a:ext cx="2676525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5"/>
          <p:cNvSpPr txBox="1">
            <a:spLocks noGrp="1"/>
          </p:cNvSpPr>
          <p:nvPr>
            <p:ph type="title"/>
          </p:nvPr>
        </p:nvSpPr>
        <p:spPr>
          <a:xfrm>
            <a:off x="4408092" y="2365400"/>
            <a:ext cx="2482800" cy="6399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hlinkClick r:id="rId5"/>
              </a:rPr>
              <a:t>Solution</a:t>
            </a:r>
            <a:endParaRPr sz="32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6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6"/>
          <p:cNvSpPr/>
          <p:nvPr/>
        </p:nvSpPr>
        <p:spPr>
          <a:xfrm>
            <a:off x="533400" y="152400"/>
            <a:ext cx="3886200" cy="94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Isentropic Efficiency of Nozzles</a:t>
            </a:r>
            <a:endParaRPr/>
          </a:p>
        </p:txBody>
      </p:sp>
      <p:pic>
        <p:nvPicPr>
          <p:cNvPr id="248" name="Google Shape;248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0238" y="1149350"/>
            <a:ext cx="4017962" cy="67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" y="3175000"/>
            <a:ext cx="1647825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6"/>
          <p:cNvSpPr/>
          <p:nvPr/>
        </p:nvSpPr>
        <p:spPr>
          <a:xfrm>
            <a:off x="533400" y="1903413"/>
            <a:ext cx="2667000" cy="119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 inlet velocity of the fluid is small relative to the exit velocity, the energy balance is</a:t>
            </a:r>
            <a:endParaRPr/>
          </a:p>
        </p:txBody>
      </p:sp>
      <p:sp>
        <p:nvSpPr>
          <p:cNvPr id="251" name="Google Shape;251;p26"/>
          <p:cNvSpPr txBox="1"/>
          <p:nvPr/>
        </p:nvSpPr>
        <p:spPr>
          <a:xfrm>
            <a:off x="533400" y="3962400"/>
            <a:ext cx="19050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Then,</a:t>
            </a:r>
            <a:endParaRPr/>
          </a:p>
        </p:txBody>
      </p:sp>
      <p:pic>
        <p:nvPicPr>
          <p:cNvPr id="252" name="Google Shape;252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" y="4370388"/>
            <a:ext cx="1820863" cy="735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19650" y="381000"/>
            <a:ext cx="4095750" cy="529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248;p26">
            <a:extLst>
              <a:ext uri="{FF2B5EF4-FFF2-40B4-BE49-F238E27FC236}">
                <a16:creationId xmlns:a16="http://schemas.microsoft.com/office/drawing/2014/main" id="{C24FACA7-0FEE-4624-BAF7-64611F1A72B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91742"/>
          <a:stretch/>
        </p:blipFill>
        <p:spPr>
          <a:xfrm>
            <a:off x="609600" y="4370388"/>
            <a:ext cx="366713" cy="735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Effect of Efficiency on Nozzle Exit Velocity</a:t>
            </a:r>
            <a:endParaRPr sz="2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7"/>
          <p:cNvSpPr txBox="1">
            <a:spLocks noGrp="1"/>
          </p:cNvSpPr>
          <p:nvPr>
            <p:ph type="body" idx="1"/>
          </p:nvPr>
        </p:nvSpPr>
        <p:spPr>
          <a:xfrm>
            <a:off x="228600" y="973513"/>
            <a:ext cx="8458200" cy="498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Air at 200 kPa and 950 K enters an adiabatic nozzle at low velocity and is discharged at a pressure of 110 kPa. If the isentropic efficiency of the nozzle is 92%, determine the maximum possible velocity, the exit temperature of the air, and the actual velocity of the air. Assume constant specific heat of air is 1.11 kJ/ kg K and the specific heat ratio is 1.349.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7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Google Shape;26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2743200"/>
            <a:ext cx="3933825" cy="401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7"/>
          <p:cNvPicPr preferRelativeResize="0"/>
          <p:nvPr/>
        </p:nvPicPr>
        <p:blipFill rotWithShape="1">
          <a:blip r:embed="rId4">
            <a:alphaModFix/>
          </a:blip>
          <a:srcRect l="9774" t="70331" r="7839"/>
          <a:stretch/>
        </p:blipFill>
        <p:spPr>
          <a:xfrm>
            <a:off x="4343400" y="4084993"/>
            <a:ext cx="4731294" cy="2256088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7"/>
          <p:cNvSpPr txBox="1">
            <a:spLocks noGrp="1"/>
          </p:cNvSpPr>
          <p:nvPr>
            <p:ph type="title"/>
          </p:nvPr>
        </p:nvSpPr>
        <p:spPr>
          <a:xfrm>
            <a:off x="4070392" y="3145150"/>
            <a:ext cx="2482800" cy="6399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linkClick r:id="rId5"/>
              </a:rPr>
              <a:t>Solution</a:t>
            </a:r>
            <a:endParaRPr sz="32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8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8"/>
          <p:cNvSpPr txBox="1">
            <a:spLocks noGrp="1"/>
          </p:cNvSpPr>
          <p:nvPr>
            <p:ph type="title"/>
          </p:nvPr>
        </p:nvSpPr>
        <p:spPr>
          <a:xfrm>
            <a:off x="914400" y="152400"/>
            <a:ext cx="7162800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/>
          </a:p>
        </p:txBody>
      </p:sp>
      <p:sp>
        <p:nvSpPr>
          <p:cNvPr id="270" name="Google Shape;270;p28"/>
          <p:cNvSpPr txBox="1">
            <a:spLocks noGrp="1"/>
          </p:cNvSpPr>
          <p:nvPr>
            <p:ph type="body" idx="1"/>
          </p:nvPr>
        </p:nvSpPr>
        <p:spPr>
          <a:xfrm>
            <a:off x="609600" y="838200"/>
            <a:ext cx="6553200" cy="56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Reversible steady-flow work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88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 dirty="0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Minimizing the compressor work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88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Isentropic efficiencies of steady-flow devices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88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lang="en-US" dirty="0"/>
              <a:t>The increase of entropy principle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744</Words>
  <Application>Microsoft Office PowerPoint</Application>
  <PresentationFormat>On-screen Show (4:3)</PresentationFormat>
  <Paragraphs>88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Noto Sans Symbols</vt:lpstr>
      <vt:lpstr>Times New Roman</vt:lpstr>
      <vt:lpstr>Default Design</vt:lpstr>
      <vt:lpstr>Topic 15 Reversible Work</vt:lpstr>
      <vt:lpstr>PowerPoint Presentation</vt:lpstr>
      <vt:lpstr>PowerPoint Presentation</vt:lpstr>
      <vt:lpstr>Reversible Steady-flow Work</vt:lpstr>
      <vt:lpstr>Reversible Steady-flow Work</vt:lpstr>
      <vt:lpstr>Compressing a Liquid vs. Gas</vt:lpstr>
      <vt:lpstr>Proof that Reversible Process is more Efficient</vt:lpstr>
      <vt:lpstr>PowerPoint Presentation</vt:lpstr>
      <vt:lpstr>PowerPoint Presentation</vt:lpstr>
      <vt:lpstr>PowerPoint Presentation</vt:lpstr>
      <vt:lpstr>Isentropic Efficiency of a Turbine</vt:lpstr>
      <vt:lpstr>PowerPoint Presentation</vt:lpstr>
      <vt:lpstr>Effect of Efficiency on Compressor Power Input</vt:lpstr>
      <vt:lpstr>PowerPoint Presentation</vt:lpstr>
      <vt:lpstr>Effect of Efficiency on Nozzle Exit Velocity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ENGR 222 - 15.Reversible Work</dc:title>
  <dc:creator>William Long</dc:creator>
  <cp:lastModifiedBy>William Long</cp:lastModifiedBy>
  <cp:revision>8</cp:revision>
  <dcterms:modified xsi:type="dcterms:W3CDTF">2024-01-29T00:25:04Z</dcterms:modified>
</cp:coreProperties>
</file>