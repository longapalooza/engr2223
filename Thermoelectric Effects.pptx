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ongapalooza.github.io/ENGR222_232/Thermoelectric%20Effects%20-%20Example%201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_232/Thermoelectric%20Effects%20-%20Example%202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_232/Thermoelectric%20Effects%20-%20Example%203.pd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_232/Thermoelectric%20Effects%20-%20Example%204.pdf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1524000" y="1922788"/>
            <a:ext cx="9144000" cy="30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Thermoelectric Effects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Joule Heating</a:t>
            </a:r>
            <a:endParaRPr sz="44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 rot="5400000">
            <a:off x="5934341" y="-357270"/>
            <a:ext cx="755100" cy="5712000"/>
          </a:xfrm>
          <a:prstGeom prst="can">
            <a:avLst>
              <a:gd name="adj" fmla="val 25000"/>
            </a:avLst>
          </a:prstGeom>
          <a:solidFill>
            <a:srgbClr val="FEE599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715665" y="2144782"/>
            <a:ext cx="740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4000" b="1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4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241971" y="2121180"/>
            <a:ext cx="740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4000" b="1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4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593113" y="2168385"/>
            <a:ext cx="1897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(# of e</a:t>
            </a:r>
            <a:r>
              <a:rPr lang="en-US" sz="2400" b="1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14"/>
          <p:cNvCxnSpPr/>
          <p:nvPr/>
        </p:nvCxnSpPr>
        <p:spPr>
          <a:xfrm rot="10800000">
            <a:off x="5413771" y="2518229"/>
            <a:ext cx="1059600" cy="0"/>
          </a:xfrm>
          <a:prstGeom prst="straightConnector1">
            <a:avLst/>
          </a:prstGeom>
          <a:noFill/>
          <a:ln w="825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1" name="Google Shape;101;p14"/>
          <p:cNvSpPr txBox="1"/>
          <p:nvPr/>
        </p:nvSpPr>
        <p:spPr>
          <a:xfrm>
            <a:off x="838200" y="1173175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 any material that has a voltage potential difference across it (e.g. wire)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38200" y="3127350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838200" y="2974950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we do an energy balance on the system, we can see that a change in the internal energy is caused by the decrease in voltage potential as electrons move from low voltage to high voltage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38200" y="4364000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❖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Remember conventional current goes from high to low, but electrons flow in the opposite direction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838200" y="5603025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Since V</a:t>
            </a:r>
            <a:r>
              <a:rPr lang="en-US" sz="2800" b="0" i="0" u="none" strike="noStrike" cap="none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&gt; V</a:t>
            </a:r>
            <a:r>
              <a:rPr lang="en-US" sz="2800" b="0" i="0" u="none" strike="noStrike" cap="none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then there is always a lost of energy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0125" y="5081525"/>
            <a:ext cx="2571750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Joule Heating</a:t>
            </a:r>
            <a:endParaRPr sz="44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5" descr="https://upload.wikimedia.org/wikipedia/commons/thumb/2/2a/Toaster-quartz_element.JPG/450px-Toaster-quartz_element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959131" y="2398059"/>
            <a:ext cx="5689880" cy="164374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38188" y="1173175"/>
            <a:ext cx="86832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we substitute this equation into the 1st Law energy balance and put it in rate form, we get: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838188" y="2852763"/>
            <a:ext cx="86832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more commonly written as: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838200" y="4132338"/>
            <a:ext cx="86832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shows that the drop in electrical potential energy as current passes through a material due to a voltage difference will create heat that will leave the material.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17750" y="2233650"/>
            <a:ext cx="23241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9588" y="3456075"/>
            <a:ext cx="340042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38188" y="5604288"/>
            <a:ext cx="86832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phenomena is called </a:t>
            </a:r>
            <a:r>
              <a:rPr lang="en-US" sz="2800" b="0" i="0" u="sng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___Joule____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ohmic (resistance) heating.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Joule Heating</a:t>
            </a:r>
            <a:endParaRPr sz="44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838200" y="1117600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factors affect heat generation?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838200" y="1604200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can see that high voltage difference and/or high currents can produce large amounts of heat.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838200" y="2521863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 that the resistance of the material will affect voltage or current (remember Ohm’s Law: V=IR)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838200" y="3421650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❖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we have high voltage, then low resistance is best.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838200" y="3863575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Recall that the resistance of a given piece of material depends on its geometry and its material properties.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838200" y="4790250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❖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Thermal properties of the material will also have an effect of heat dissipation from the heating element.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838200" y="5957000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❖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⍴ is the resistivity of the material (Ωm), L is the length of the material, and A is the cross-sectional area of the material.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10225" y="5393538"/>
            <a:ext cx="971550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Problem</a:t>
            </a:r>
            <a:endParaRPr sz="44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>
            <a:spLocks noGrp="1"/>
          </p:cNvSpPr>
          <p:nvPr>
            <p:ph type="body" idx="1"/>
          </p:nvPr>
        </p:nvSpPr>
        <p:spPr>
          <a:xfrm>
            <a:off x="838200" y="1325570"/>
            <a:ext cx="7638300" cy="27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hair dryer is designed to output 2000 W of heat by using a 90 V source. If the heating coil is composed of nichrome (nickel-iron-chromium alloy) with a resistivity of 1.10 x 10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-6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-m and a diameter of  0.4 mm, how long must the nichrome wire be?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7" descr="https://upload.wikimedia.org/wikipedia/commons/thumb/e/ea/Hairdryer_20101109.jpg/150px-Hairdryer_20101109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6343" y="1325563"/>
            <a:ext cx="3589112" cy="478548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4227900" y="2710875"/>
            <a:ext cx="51705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7"/>
          <p:cNvSpPr txBox="1">
            <a:spLocks noGrp="1"/>
          </p:cNvSpPr>
          <p:nvPr>
            <p:ph type="title"/>
          </p:nvPr>
        </p:nvSpPr>
        <p:spPr>
          <a:xfrm>
            <a:off x="2741200" y="4353375"/>
            <a:ext cx="2536800" cy="691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Example 1</a:t>
            </a:r>
            <a:endParaRPr sz="44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Thermoelectric Power Generator</a:t>
            </a:r>
            <a:endParaRPr sz="44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>
            <a:spLocks noGrp="1"/>
          </p:cNvSpPr>
          <p:nvPr>
            <p:ph type="body" idx="1"/>
          </p:nvPr>
        </p:nvSpPr>
        <p:spPr>
          <a:xfrm>
            <a:off x="838200" y="1209448"/>
            <a:ext cx="10515600" cy="5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 the purpose of a heat engine: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8"/>
          <p:cNvPicPr preferRelativeResize="0"/>
          <p:nvPr/>
        </p:nvPicPr>
        <p:blipFill rotWithShape="1">
          <a:blip r:embed="rId3">
            <a:alphaModFix/>
          </a:blip>
          <a:srcRect t="13166"/>
          <a:stretch/>
        </p:blipFill>
        <p:spPr>
          <a:xfrm>
            <a:off x="1400628" y="4736314"/>
            <a:ext cx="4122057" cy="187464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8"/>
          <p:cNvPicPr preferRelativeResize="0"/>
          <p:nvPr/>
        </p:nvPicPr>
        <p:blipFill rotWithShape="1">
          <a:blip r:embed="rId4">
            <a:alphaModFix/>
          </a:blip>
          <a:srcRect t="15445"/>
          <a:stretch/>
        </p:blipFill>
        <p:spPr>
          <a:xfrm>
            <a:off x="6556827" y="4725585"/>
            <a:ext cx="3841381" cy="181332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>
            <a:spLocks noGrp="1"/>
          </p:cNvSpPr>
          <p:nvPr>
            <p:ph type="body" idx="1"/>
          </p:nvPr>
        </p:nvSpPr>
        <p:spPr>
          <a:xfrm>
            <a:off x="838200" y="1644698"/>
            <a:ext cx="10515600" cy="5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Converts heat into work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>
            <a:spLocks noGrp="1"/>
          </p:cNvSpPr>
          <p:nvPr>
            <p:ph type="body" idx="1"/>
          </p:nvPr>
        </p:nvSpPr>
        <p:spPr>
          <a:xfrm>
            <a:off x="838200" y="2071391"/>
            <a:ext cx="10515600" cy="10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two different metals joined at both ends to create a closed circuit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>
            <a:spLocks noGrp="1"/>
          </p:cNvSpPr>
          <p:nvPr>
            <p:ph type="body" idx="1"/>
          </p:nvPr>
        </p:nvSpPr>
        <p:spPr>
          <a:xfrm>
            <a:off x="838200" y="3040225"/>
            <a:ext cx="10515600" cy="11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there is a temperature difference between the two junctions, then a current flows through the circuit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>
            <a:spLocks noGrp="1"/>
          </p:cNvSpPr>
          <p:nvPr>
            <p:ph type="body" idx="1"/>
          </p:nvPr>
        </p:nvSpPr>
        <p:spPr>
          <a:xfrm>
            <a:off x="837985" y="4032427"/>
            <a:ext cx="10515600" cy="11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break the circuit, current cannot flow, but a voltage difference is generated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Seebeck Effect</a:t>
            </a:r>
            <a:endParaRPr sz="44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>
            <a:spLocks noGrp="1"/>
          </p:cNvSpPr>
          <p:nvPr>
            <p:ph type="body" idx="1"/>
          </p:nvPr>
        </p:nvSpPr>
        <p:spPr>
          <a:xfrm>
            <a:off x="838200" y="132556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8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Seebeck</a:t>
            </a:r>
            <a:r>
              <a:rPr lang="en-US" sz="28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effect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describes the voltage potential generation due to a temperature difference across two junctions of two conjoined different metals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>
            <a:spLocks noGrp="1"/>
          </p:cNvSpPr>
          <p:nvPr>
            <p:ph type="body" idx="1"/>
          </p:nvPr>
        </p:nvSpPr>
        <p:spPr>
          <a:xfrm>
            <a:off x="838203" y="2651281"/>
            <a:ext cx="10515600" cy="5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Named after Thomas Seebeck for his discovery in 1821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>
            <a:spLocks noGrp="1"/>
          </p:cNvSpPr>
          <p:nvPr>
            <p:ph type="body" idx="1"/>
          </p:nvPr>
        </p:nvSpPr>
        <p:spPr>
          <a:xfrm>
            <a:off x="838200" y="3246775"/>
            <a:ext cx="105156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two major applications of the Seebeck effect: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>
            <a:spLocks noGrp="1"/>
          </p:cNvSpPr>
          <p:nvPr>
            <p:ph type="body" idx="1"/>
          </p:nvPr>
        </p:nvSpPr>
        <p:spPr>
          <a:xfrm>
            <a:off x="838212" y="3752538"/>
            <a:ext cx="10515600" cy="5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 measurement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>
            <a:spLocks noGrp="1"/>
          </p:cNvSpPr>
          <p:nvPr>
            <p:ph type="body" idx="1"/>
          </p:nvPr>
        </p:nvSpPr>
        <p:spPr>
          <a:xfrm>
            <a:off x="838207" y="4168801"/>
            <a:ext cx="10515600" cy="5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generation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838211" y="4889923"/>
            <a:ext cx="10515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8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thermoelectric device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any device that operates using a thermoelectric circuit which incorporates thermal and electrical effects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Seebeck Effect: Temperature Measurement</a:t>
            </a:r>
            <a:endParaRPr sz="44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>
            <a:spLocks noGrp="1"/>
          </p:cNvSpPr>
          <p:nvPr>
            <p:ph type="body" idx="1"/>
          </p:nvPr>
        </p:nvSpPr>
        <p:spPr>
          <a:xfrm>
            <a:off x="838200" y="1325565"/>
            <a:ext cx="108312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break the circuit we create a voltage difference that is proportional to the temperature difference.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20" descr="https://upload.wikimedia.org/wikipedia/commons/thumb/4/41/Thermocouple_circuit_Ktype_including_voltmeter_temperature.svg/291px-Thermocouple_circuit_Ktype_including_voltmeter_temperature.sv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3324" y="4741975"/>
            <a:ext cx="6766600" cy="211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838000" y="2178125"/>
            <a:ext cx="10831200" cy="11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measure the voltage difference, we can determine the temperatures.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>
            <a:spLocks noGrp="1"/>
          </p:cNvSpPr>
          <p:nvPr>
            <p:ph type="body" idx="1"/>
          </p:nvPr>
        </p:nvSpPr>
        <p:spPr>
          <a:xfrm>
            <a:off x="838001" y="3165536"/>
            <a:ext cx="108312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working principles behind </a:t>
            </a:r>
            <a:r>
              <a:rPr lang="en-US" sz="28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thermocouples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>
            <a:spLocks noGrp="1"/>
          </p:cNvSpPr>
          <p:nvPr>
            <p:ph type="body" idx="1"/>
          </p:nvPr>
        </p:nvSpPr>
        <p:spPr>
          <a:xfrm>
            <a:off x="838001" y="3710716"/>
            <a:ext cx="10831200" cy="12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many different types of thermocouples.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K-type (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chromel-alumel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are the most common with a sensitivity of 41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V/</a:t>
            </a:r>
            <a:r>
              <a:rPr lang="en-US" sz="2400" b="0" i="0" u="none" strike="noStrike" cap="none" baseline="30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Seebeck Effect: Temperature Measurement</a:t>
            </a:r>
            <a:endParaRPr sz="44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>
            <a:spLocks noGrp="1"/>
          </p:cNvSpPr>
          <p:nvPr>
            <p:ph type="body" idx="1"/>
          </p:nvPr>
        </p:nvSpPr>
        <p:spPr>
          <a:xfrm>
            <a:off x="838200" y="1325565"/>
            <a:ext cx="6795900" cy="10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you can see thermocouples generate small voltages per degree change in temperature.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1" descr="https://upload.wikimedia.org/wikipedia/commons/thumb/7/74/Thermopile2.png/220px-Thermopile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2659" y="1300885"/>
            <a:ext cx="3719739" cy="505546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>
            <a:spLocks noGrp="1"/>
          </p:cNvSpPr>
          <p:nvPr>
            <p:ph type="body" idx="1"/>
          </p:nvPr>
        </p:nvSpPr>
        <p:spPr>
          <a:xfrm>
            <a:off x="833812" y="2477542"/>
            <a:ext cx="67959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what if we need to measure a very small temperature difference (e.g. in mK).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>
            <a:spLocks noGrp="1"/>
          </p:cNvSpPr>
          <p:nvPr>
            <p:ph type="body" idx="1"/>
          </p:nvPr>
        </p:nvSpPr>
        <p:spPr>
          <a:xfrm>
            <a:off x="838001" y="3754989"/>
            <a:ext cx="67959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put a bunch of thermocouple devices in series to produce a </a:t>
            </a:r>
            <a:r>
              <a:rPr lang="en-US" sz="28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thermopile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>
            <a:spLocks noGrp="1"/>
          </p:cNvSpPr>
          <p:nvPr>
            <p:ph type="body" idx="1"/>
          </p:nvPr>
        </p:nvSpPr>
        <p:spPr>
          <a:xfrm>
            <a:off x="838001" y="5032437"/>
            <a:ext cx="6795900" cy="15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Commonly used in applications where heats of reaction are being measured (e.g. concentrations of dilute species).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Seebeck Coefficient</a:t>
            </a:r>
            <a:endParaRPr sz="44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838200" y="1114928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can pair up specific metals to change the sensitivity of a thermocouple device.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838197" y="2172801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Seebeck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coefficient is material property that represents the induced voltage in response to a temperature difference across the material.</a:t>
            </a: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838197" y="3230675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we combine two different materials we can identify the expected voltage difference or temperature difference.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838197" y="4599275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Seebeck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coefficient is relative value (since measuring it will create additional thermoelectric effects) and material values are compared to </a:t>
            </a:r>
            <a:r>
              <a:rPr lang="en-US" sz="2600" b="0" i="0" u="sng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platinum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600" b="0" i="0" u="none" strike="noStrike" cap="none" baseline="-250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Pt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0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μV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/K).</a:t>
            </a: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838197" y="5894675"/>
            <a:ext cx="105156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voltage gradient will point in the opposite direction of the temperature gradient.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6300" y="4126800"/>
            <a:ext cx="2979382" cy="60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Problem</a:t>
            </a:r>
            <a:endParaRPr sz="44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 txBox="1">
            <a:spLocks noGrp="1"/>
          </p:cNvSpPr>
          <p:nvPr>
            <p:ph type="body" idx="1"/>
          </p:nvPr>
        </p:nvSpPr>
        <p:spPr>
          <a:xfrm>
            <a:off x="838200" y="1325563"/>
            <a:ext cx="10515600" cy="48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bismuth-antimony thermocouple reads a voltage difference of 0.1 mV. The Seebeck coefficients of bismuth and antimony are -72 </a:t>
            </a:r>
            <a:r>
              <a:rPr lang="en-US" sz="28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V/K and 47 +</a:t>
            </a:r>
            <a:r>
              <a:rPr lang="en-US" sz="28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V/K, respectively. If the temperature of the reference junction is known to be 22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 what is the temperature of the measuring junction?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 txBox="1">
            <a:spLocks noGrp="1"/>
          </p:cNvSpPr>
          <p:nvPr>
            <p:ph type="title"/>
          </p:nvPr>
        </p:nvSpPr>
        <p:spPr>
          <a:xfrm>
            <a:off x="8881100" y="3913525"/>
            <a:ext cx="2536800" cy="691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Example 2</a:t>
            </a:r>
            <a:endParaRPr sz="44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76700" y="3495663"/>
            <a:ext cx="504825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2286000" y="4383315"/>
            <a:ext cx="11610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r>
              <a:rPr lang="en-US" sz="3200" b="0" i="0" u="none" strike="noStrike" cap="none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Thermoelectric Generator</a:t>
            </a:r>
            <a:endParaRPr sz="44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 txBox="1">
            <a:spLocks noGrp="1"/>
          </p:cNvSpPr>
          <p:nvPr>
            <p:ph type="body" idx="1"/>
          </p:nvPr>
        </p:nvSpPr>
        <p:spPr>
          <a:xfrm>
            <a:off x="838400" y="1028518"/>
            <a:ext cx="7503600" cy="16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thermoelectric generator absorbs heat from a high-temperature source and rejects heat to a low-temperature sink; the difference is the produced electrical work.</a:t>
            </a:r>
            <a:endParaRPr sz="2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4"/>
          <p:cNvPicPr preferRelativeResize="0"/>
          <p:nvPr/>
        </p:nvPicPr>
        <p:blipFill rotWithShape="1">
          <a:blip r:embed="rId3">
            <a:alphaModFix/>
          </a:blip>
          <a:srcRect l="9570" t="6029" r="8273"/>
          <a:stretch/>
        </p:blipFill>
        <p:spPr>
          <a:xfrm>
            <a:off x="8337177" y="1028526"/>
            <a:ext cx="3738282" cy="467123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4"/>
          <p:cNvSpPr txBox="1">
            <a:spLocks noGrp="1"/>
          </p:cNvSpPr>
          <p:nvPr>
            <p:ph type="body" idx="1"/>
          </p:nvPr>
        </p:nvSpPr>
        <p:spPr>
          <a:xfrm>
            <a:off x="838200" y="2593373"/>
            <a:ext cx="7503600" cy="10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Behaves like a heat engine with electrons serving as the “working fluid”.</a:t>
            </a:r>
            <a:endParaRPr sz="2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 txBox="1">
            <a:spLocks noGrp="1"/>
          </p:cNvSpPr>
          <p:nvPr>
            <p:ph type="body" idx="1"/>
          </p:nvPr>
        </p:nvSpPr>
        <p:spPr>
          <a:xfrm>
            <a:off x="839396" y="3502824"/>
            <a:ext cx="7503600" cy="18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a heat engine, the efficiency of the device is limited by the temperatures of the source and sink.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9177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presence of an irreversibility (resistance) keeps the actual efficiency below the Carnot efficiency.</a:t>
            </a:r>
            <a:endParaRPr sz="2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 txBox="1">
            <a:spLocks noGrp="1"/>
          </p:cNvSpPr>
          <p:nvPr>
            <p:ph type="body" idx="1"/>
          </p:nvPr>
        </p:nvSpPr>
        <p:spPr>
          <a:xfrm>
            <a:off x="842800" y="5225260"/>
            <a:ext cx="7503600" cy="16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in various applications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957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power applications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957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Limited fuel source applications (e.g. space exploration)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957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Waste heat recovery</a:t>
            </a:r>
            <a:endParaRPr sz="2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>
            <a:spLocks noGrp="1"/>
          </p:cNvSpPr>
          <p:nvPr>
            <p:ph type="body" idx="1"/>
          </p:nvPr>
        </p:nvSpPr>
        <p:spPr>
          <a:xfrm>
            <a:off x="838200" y="13257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None/>
            </a:pPr>
            <a:r>
              <a:rPr lang="en-US" sz="2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Mars Curiosity Rover uses a radioisotope thermoelectric generator (RTG) which uses the heat from nuclear decay to generate electricity. Curiosity uses 4.8 kg of plutonium-238 dioxide which has a power density of 0.54 W/g. The average temperature of the heat source is 550</a:t>
            </a:r>
            <a:r>
              <a:rPr lang="en-US" sz="2590" b="0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2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and the average temperature of the external sink is 230</a:t>
            </a:r>
            <a:r>
              <a:rPr lang="en-US" sz="2590" b="0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2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What is the maximum rate of power production for this thermoelectric generator?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None/>
            </a:pPr>
            <a:r>
              <a:rPr lang="en-US" sz="2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Curiosity actually produces 110 W of electrical power and outputs 2 kW of heat waste. What is the actual thermal efficiency of the RTG?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None/>
            </a:pPr>
            <a:endParaRPr sz="25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None/>
            </a:pPr>
            <a:r>
              <a:rPr lang="en-US" sz="2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</a:t>
            </a:r>
            <a:r>
              <a:rPr lang="en-US" sz="2590" b="0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238</a:t>
            </a:r>
            <a:r>
              <a:rPr lang="en-US" sz="25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 has a half-life of 87.7 years; which means the power output will decrease by 0.787% per year </a:t>
            </a:r>
            <a:endParaRPr sz="25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Problem</a:t>
            </a:r>
            <a:endParaRPr sz="44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 txBox="1">
            <a:spLocks noGrp="1"/>
          </p:cNvSpPr>
          <p:nvPr>
            <p:ph type="title"/>
          </p:nvPr>
        </p:nvSpPr>
        <p:spPr>
          <a:xfrm>
            <a:off x="6520300" y="5879375"/>
            <a:ext cx="2536800" cy="691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Example 3</a:t>
            </a:r>
            <a:endParaRPr sz="44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Peltier Effect</a:t>
            </a:r>
            <a:endParaRPr sz="44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6"/>
          <p:cNvSpPr txBox="1">
            <a:spLocks noGrp="1"/>
          </p:cNvSpPr>
          <p:nvPr>
            <p:ph type="body" idx="1"/>
          </p:nvPr>
        </p:nvSpPr>
        <p:spPr>
          <a:xfrm>
            <a:off x="838200" y="1102657"/>
            <a:ext cx="105156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thermoelectric generator that produces electrical work in the presence of a temperature difference.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6"/>
          <p:cNvSpPr txBox="1">
            <a:spLocks noGrp="1"/>
          </p:cNvSpPr>
          <p:nvPr>
            <p:ph type="body" idx="1"/>
          </p:nvPr>
        </p:nvSpPr>
        <p:spPr>
          <a:xfrm>
            <a:off x="838200" y="1963199"/>
            <a:ext cx="105156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we powered the device by means of an external voltage?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6"/>
          <p:cNvSpPr txBox="1">
            <a:spLocks noGrp="1"/>
          </p:cNvSpPr>
          <p:nvPr>
            <p:ph type="body" idx="1"/>
          </p:nvPr>
        </p:nvSpPr>
        <p:spPr>
          <a:xfrm>
            <a:off x="837988" y="2511548"/>
            <a:ext cx="105156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could drive the heat transfer in the opposite direction (like a refrigerator or heat pump).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6"/>
          <p:cNvSpPr txBox="1">
            <a:spLocks noGrp="1"/>
          </p:cNvSpPr>
          <p:nvPr>
            <p:ph type="body" idx="1"/>
          </p:nvPr>
        </p:nvSpPr>
        <p:spPr>
          <a:xfrm>
            <a:off x="833600" y="3733750"/>
            <a:ext cx="105156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Thermoelectric refrigerators are driven by the Peltier effect.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6"/>
          <p:cNvSpPr txBox="1">
            <a:spLocks noGrp="1"/>
          </p:cNvSpPr>
          <p:nvPr>
            <p:ph type="body" idx="1"/>
          </p:nvPr>
        </p:nvSpPr>
        <p:spPr>
          <a:xfrm>
            <a:off x="838200" y="4832072"/>
            <a:ext cx="10515600" cy="1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Compared to vapor-compression refrigeration cycles, Peltier coolers are smaller, quieter, simpler, and more reliable, but they have low COPs.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Peltier Coolers</a:t>
            </a:r>
            <a:endParaRPr sz="44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7"/>
          <p:cNvSpPr txBox="1">
            <a:spLocks noGrp="1"/>
          </p:cNvSpPr>
          <p:nvPr>
            <p:ph type="body" idx="1"/>
          </p:nvPr>
        </p:nvSpPr>
        <p:spPr>
          <a:xfrm>
            <a:off x="838400" y="1136828"/>
            <a:ext cx="7041900" cy="10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were to look inside of a Peltier cooler, we would see numerous 2-column pairs.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27" descr="https://lh4.googleusercontent.com/YWbZAW9GgzZeIbP58M4ZOEXTkymVk9gFwKH0TJMKPhgswGhJHQOte2Az9YA4GtlIHa_2dta0K3ndZcw_LIiVTsko6n2ATUficRsbpE9WhqO5t5vPu9_TpQsPJQ6_XCxAXyQXFUKa"/>
          <p:cNvPicPr preferRelativeResize="0"/>
          <p:nvPr/>
        </p:nvPicPr>
        <p:blipFill rotWithShape="1">
          <a:blip r:embed="rId3">
            <a:alphaModFix/>
          </a:blip>
          <a:srcRect l="21580"/>
          <a:stretch/>
        </p:blipFill>
        <p:spPr>
          <a:xfrm>
            <a:off x="7378625" y="5122575"/>
            <a:ext cx="4660976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7"/>
          <p:cNvPicPr preferRelativeResize="0"/>
          <p:nvPr/>
        </p:nvPicPr>
        <p:blipFill rotWithShape="1">
          <a:blip r:embed="rId4">
            <a:alphaModFix/>
          </a:blip>
          <a:srcRect l="10958" t="7386" r="8277" b="-534"/>
          <a:stretch/>
        </p:blipFill>
        <p:spPr>
          <a:xfrm>
            <a:off x="7980050" y="234876"/>
            <a:ext cx="4099425" cy="467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 txBox="1"/>
          <p:nvPr/>
        </p:nvSpPr>
        <p:spPr>
          <a:xfrm>
            <a:off x="4016763" y="5592668"/>
            <a:ext cx="3285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Inside of Peltier cooler (top plate removed; some columns were damaged during removal process)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of Utah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7"/>
          <p:cNvSpPr txBox="1">
            <a:spLocks noGrp="1"/>
          </p:cNvSpPr>
          <p:nvPr>
            <p:ph type="body" idx="1"/>
          </p:nvPr>
        </p:nvSpPr>
        <p:spPr>
          <a:xfrm>
            <a:off x="838400" y="1999388"/>
            <a:ext cx="70419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column would be n-type (heavily doped with extra electrons) and the other p-type (doped to create extra vacancies).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7"/>
          <p:cNvSpPr txBox="1">
            <a:spLocks noGrp="1"/>
          </p:cNvSpPr>
          <p:nvPr>
            <p:ph type="body" idx="1"/>
          </p:nvPr>
        </p:nvSpPr>
        <p:spPr>
          <a:xfrm>
            <a:off x="838200" y="3404875"/>
            <a:ext cx="7041900" cy="10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alternating columns are arranged in series.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7"/>
          <p:cNvSpPr txBox="1">
            <a:spLocks noGrp="1"/>
          </p:cNvSpPr>
          <p:nvPr>
            <p:ph type="body" idx="1"/>
          </p:nvPr>
        </p:nvSpPr>
        <p:spPr>
          <a:xfrm>
            <a:off x="838400" y="4395475"/>
            <a:ext cx="7041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current passes through it draws heat away from the cold side and rejects it to the warm side.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Problem</a:t>
            </a:r>
            <a:endParaRPr sz="44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8"/>
          <p:cNvSpPr txBox="1">
            <a:spLocks noGrp="1"/>
          </p:cNvSpPr>
          <p:nvPr>
            <p:ph type="body" idx="1"/>
          </p:nvPr>
        </p:nvSpPr>
        <p:spPr>
          <a:xfrm>
            <a:off x="815800" y="1325567"/>
            <a:ext cx="10515600" cy="16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Peltier cooler uses 50 W of power to absorb 500 W of heat from a cold temperature source. If the external warm temperature is 85</a:t>
            </a:r>
            <a:r>
              <a:rPr lang="en-US" sz="2800" b="0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F, what is the coldest temperature the source could be?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8"/>
          <p:cNvSpPr txBox="1">
            <a:spLocks noGrp="1"/>
          </p:cNvSpPr>
          <p:nvPr>
            <p:ph type="title"/>
          </p:nvPr>
        </p:nvSpPr>
        <p:spPr>
          <a:xfrm>
            <a:off x="4827600" y="3083250"/>
            <a:ext cx="2536800" cy="691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Example 4</a:t>
            </a:r>
            <a:endParaRPr sz="44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1236</Words>
  <Application>Microsoft Office PowerPoint</Application>
  <PresentationFormat>Widescreen</PresentationFormat>
  <Paragraphs>106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Noto Sans Symbols</vt:lpstr>
      <vt:lpstr>Office Theme</vt:lpstr>
      <vt:lpstr>Thermoelectric Effects</vt:lpstr>
      <vt:lpstr>Joule Heating</vt:lpstr>
      <vt:lpstr>Joule Heating</vt:lpstr>
      <vt:lpstr>Joule Heating</vt:lpstr>
      <vt:lpstr>Class Problem</vt:lpstr>
      <vt:lpstr>Thermoelectric Power Generator</vt:lpstr>
      <vt:lpstr>Seebeck Effect</vt:lpstr>
      <vt:lpstr>Seebeck Effect: Temperature Measurement</vt:lpstr>
      <vt:lpstr>Seebeck Effect: Temperature Measurement</vt:lpstr>
      <vt:lpstr>Seebeck Coefficient</vt:lpstr>
      <vt:lpstr>Class Problem</vt:lpstr>
      <vt:lpstr>Thermoelectric Generator</vt:lpstr>
      <vt:lpstr>Class Problem</vt:lpstr>
      <vt:lpstr>Peltier Effect</vt:lpstr>
      <vt:lpstr>Peltier Coolers</vt:lpstr>
      <vt:lpstr>Class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ENGR 222 - Thermoelectric Effects</dc:title>
  <dc:creator>wlong</dc:creator>
  <cp:lastModifiedBy>William Long</cp:lastModifiedBy>
  <cp:revision>4</cp:revision>
  <dcterms:modified xsi:type="dcterms:W3CDTF">2022-11-29T17:56:14Z</dcterms:modified>
</cp:coreProperties>
</file>