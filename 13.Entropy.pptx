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Slaydı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ş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ölüm Üstbilgisi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28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4038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36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143000"/>
            <a:ext cx="4038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36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İçerik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18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Resim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18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, Dikey Metin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080418" y="-480219"/>
            <a:ext cx="49831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key Başlık ve Metin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13.Example%201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ongapalooza.github.io/ENGR2223/13.Example%202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ongapalooza.github.io/ENGR2223/13.Example%203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ongapalooza.github.io/ENGR2223/13.Example%204.pd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13.Example%205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600200" y="2438400"/>
            <a:ext cx="5943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Topic 13</a:t>
            </a:r>
            <a:br>
              <a:rPr lang="en-US" sz="32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ENTROPY</a:t>
            </a:r>
            <a:endParaRPr sz="3200" b="1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0" y="5257800"/>
            <a:ext cx="9144000" cy="762000"/>
          </a:xfrm>
          <a:prstGeom prst="rect">
            <a:avLst/>
          </a:prstGeom>
          <a:solidFill>
            <a:srgbClr val="8AC6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9966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i="0" u="none" strike="noStrike" cap="none" dirty="0">
              <a:solidFill>
                <a:srgbClr val="99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304800"/>
            <a:ext cx="9144000" cy="14033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Thermodynamics: An Engineering Approach </a:t>
            </a:r>
            <a:endParaRPr sz="22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8th Edition</a:t>
            </a:r>
            <a:br>
              <a:rPr lang="en-US" sz="2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Yunus A. Çengel, Michael A. Boles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McGraw-Hill, 2015</a:t>
            </a:r>
            <a:endParaRPr sz="18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9600" y="177800"/>
            <a:ext cx="22558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304800" y="838200"/>
            <a:ext cx="8229600" cy="242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the second law of thermodynamics to processes.</a:t>
            </a:r>
            <a:endParaRPr/>
          </a:p>
          <a:p>
            <a:pPr marL="342900" marR="0" lvl="0" indent="-342900" algn="l" rtl="0">
              <a:spcBef>
                <a:spcPts val="66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Define a new property called </a:t>
            </a:r>
            <a:r>
              <a:rPr lang="en-US" sz="2200" i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entropy </a:t>
            </a:r>
            <a:r>
              <a:rPr lang="en-US" sz="22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to quantify the second-law effects.</a:t>
            </a:r>
            <a:endParaRPr/>
          </a:p>
          <a:p>
            <a:pPr marL="342900" marR="0" lvl="0" indent="-342900" algn="l" rtl="0">
              <a:spcBef>
                <a:spcPts val="66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the </a:t>
            </a:r>
            <a:r>
              <a:rPr lang="en-US" sz="2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of entropy principle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342900" marR="0" lvl="0" indent="-342900" algn="l" rtl="0">
              <a:spcBef>
                <a:spcPts val="66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Calculate the entropy changes that take place during processes for pure substances.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457200" y="152400"/>
            <a:ext cx="2286000" cy="57943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ENTROPY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990600"/>
            <a:ext cx="11049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2133600"/>
            <a:ext cx="1795463" cy="63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351212"/>
            <a:ext cx="2906713" cy="623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4572000"/>
            <a:ext cx="30543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0" y="990600"/>
            <a:ext cx="17526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Clausius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inequality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3962400" y="5694363"/>
            <a:ext cx="4724400" cy="935037"/>
          </a:xfrm>
          <a:prstGeom prst="rect">
            <a:avLst/>
          </a:prstGeom>
          <a:solidFill>
            <a:srgbClr val="FFCC99"/>
          </a:solidFill>
          <a:ln w="190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equality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Clausius inequality holds for totally or just internally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reversible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cycles and the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inequality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irreversible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ones.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467600" y="3198812"/>
            <a:ext cx="1219200" cy="91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Formal definition of entropy</a:t>
            </a:r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790575"/>
            <a:ext cx="3400425" cy="59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152400"/>
            <a:ext cx="316230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90938" y="457200"/>
            <a:ext cx="1795462" cy="63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3429000" y="2101850"/>
            <a:ext cx="25908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Entropy is an extensive property of a system.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3429000" y="1141413"/>
            <a:ext cx="2819400" cy="91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quantity whose cyclic integral is zero (i.e., a property like volume)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381000" y="4632325"/>
            <a:ext cx="48768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A Special Case: Internally Reversible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Isothermal</a:t>
            </a:r>
            <a:r>
              <a:rPr lang="en-US" sz="20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Heat Transfer Processes</a:t>
            </a:r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5319713"/>
            <a:ext cx="5181600" cy="700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6096000"/>
            <a:ext cx="906463" cy="59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1371600" y="6096000"/>
            <a:ext cx="54864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equation is particularly useful for determining the entropy changes of thermal energy reservoirs.</a:t>
            </a:r>
            <a:endParaRPr/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123825"/>
            <a:ext cx="3267075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Entropy Change Example</a:t>
            </a:r>
            <a:endParaRPr sz="2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13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A piston cylinder device contains a liquid-vapor mixture of water at 27°C. During a constant pressure process, 750 kJ of heat is transferred to the water. As a result, part of the liquid in the cylinder vaporizes. Determine the entropy change of the water during this process.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3546150" y="3109050"/>
            <a:ext cx="2051700" cy="639900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hlinkClick r:id="rId3"/>
              </a:rPr>
              <a:t>Solution</a:t>
            </a:r>
            <a:endParaRPr sz="2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81000" y="258763"/>
            <a:ext cx="8247063" cy="57943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200" b="1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INCREASE</a:t>
            </a: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OF ENTROPY PRINCIPLE</a:t>
            </a:r>
            <a:endParaRPr/>
          </a:p>
        </p:txBody>
      </p:sp>
      <p:grpSp>
        <p:nvGrpSpPr>
          <p:cNvPr id="141" name="Google Shape;141;p18"/>
          <p:cNvGrpSpPr/>
          <p:nvPr/>
        </p:nvGrpSpPr>
        <p:grpSpPr>
          <a:xfrm>
            <a:off x="3733800" y="1219200"/>
            <a:ext cx="5181600" cy="3429000"/>
            <a:chOff x="3505200" y="1219200"/>
            <a:chExt cx="5181600" cy="3429000"/>
          </a:xfrm>
        </p:grpSpPr>
        <p:pic>
          <p:nvPicPr>
            <p:cNvPr id="142" name="Google Shape;142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81400" y="1219200"/>
              <a:ext cx="906463" cy="52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48200" y="1219200"/>
              <a:ext cx="2338388" cy="5857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81400" y="1905000"/>
              <a:ext cx="1919288" cy="555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38800" y="1905000"/>
              <a:ext cx="1500188" cy="5984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81400" y="2743200"/>
              <a:ext cx="1066800" cy="612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8"/>
            <p:cNvSpPr/>
            <p:nvPr/>
          </p:nvSpPr>
          <p:spPr>
            <a:xfrm>
              <a:off x="4724400" y="2636838"/>
              <a:ext cx="3962400" cy="8683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equality holds for an internally reversible process and the inequality for an irreversible process.</a:t>
              </a:r>
              <a:endParaRPr/>
            </a:p>
          </p:txBody>
        </p:sp>
        <p:pic>
          <p:nvPicPr>
            <p:cNvPr id="148" name="Google Shape;148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06788" y="3581400"/>
              <a:ext cx="3351212" cy="67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505200" y="4340225"/>
              <a:ext cx="3498850" cy="307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18"/>
          <p:cNvSpPr/>
          <p:nvPr/>
        </p:nvSpPr>
        <p:spPr>
          <a:xfrm>
            <a:off x="914400" y="4845050"/>
            <a:ext cx="73152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entropy is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during an irreversible process, and this generation is due entirely to the presence of irreversibilities.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1017588" y="5686425"/>
            <a:ext cx="6754812" cy="714375"/>
          </a:xfrm>
          <a:prstGeom prst="rect">
            <a:avLst/>
          </a:prstGeom>
          <a:solidFill>
            <a:srgbClr val="FFCC99"/>
          </a:solidFill>
          <a:ln w="190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entropy generation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always a </a:t>
            </a:r>
            <a:r>
              <a:rPr lang="en-US" sz="1800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quantity or zero.</a:t>
            </a:r>
            <a:endParaRPr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Can the entropy of a system during a process decrease?</a:t>
            </a:r>
            <a:endParaRPr/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0975" y="1228725"/>
            <a:ext cx="340042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4592638"/>
            <a:ext cx="1301750" cy="28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5029200"/>
            <a:ext cx="3524250" cy="277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800" y="5426075"/>
            <a:ext cx="3154363" cy="97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3429000" y="5486400"/>
            <a:ext cx="1752600" cy="91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The increase of entropy principle</a:t>
            </a:r>
            <a:endParaRPr/>
          </a:p>
        </p:txBody>
      </p:sp>
      <p:pic>
        <p:nvPicPr>
          <p:cNvPr id="162" name="Google Shape;162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800" y="228600"/>
            <a:ext cx="4105275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95850" y="228600"/>
            <a:ext cx="4095750" cy="57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42875" y="152400"/>
            <a:ext cx="3133725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Some Remarks about Entropy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4495800" y="331788"/>
            <a:ext cx="4343400" cy="629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Processes can occur in a </a:t>
            </a:r>
            <a:r>
              <a:rPr lang="en-US" sz="1800" i="1" u="sng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certain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direction only, not in </a:t>
            </a:r>
            <a:r>
              <a:rPr lang="en-US" sz="1800" i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any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direction. A process must proceed in the direction that complies with the increase of entropy principle, that is,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≥ 0. A process that violates this principle is impossible. 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is a </a:t>
            </a:r>
            <a:r>
              <a:rPr lang="en-US" sz="1800" i="1" u="sng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nonconserved</a:t>
            </a:r>
            <a:r>
              <a:rPr lang="en-US" sz="1800" i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 property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there is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such thing as the </a:t>
            </a:r>
            <a:r>
              <a:rPr lang="en-US" sz="1800" i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conservation of entropy principle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Entropy is conserved during the idealized reversible processes only and increases during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 processes.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performance of engineering systems is degraded by the presence of irreversibilities, and </a:t>
            </a:r>
            <a:r>
              <a:rPr lang="en-US" sz="1800" i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entropy </a:t>
            </a:r>
            <a:r>
              <a:rPr lang="en-US" sz="1800" i="1" u="sng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measure of the magnitudes of the irreversibilities during that process. It is also used to establish criteria for the performance of engineering devices.</a:t>
            </a:r>
            <a:endParaRPr/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50" y="1143000"/>
            <a:ext cx="4095750" cy="55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Entropy Generation during Heat Transfer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heat source at 800 K loses 2000 kJ of heat to a sink at 500 K and at 750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K. Determine which heat transfer process is more irreversible.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t="13018"/>
          <a:stretch/>
        </p:blipFill>
        <p:spPr>
          <a:xfrm>
            <a:off x="457200" y="2401775"/>
            <a:ext cx="3980023" cy="305497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>
            <a:spLocks noGrp="1"/>
          </p:cNvSpPr>
          <p:nvPr>
            <p:ph type="title"/>
          </p:nvPr>
        </p:nvSpPr>
        <p:spPr>
          <a:xfrm>
            <a:off x="5670375" y="3337650"/>
            <a:ext cx="2051700" cy="639900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hlinkClick r:id="rId4"/>
              </a:rPr>
              <a:t>Solution</a:t>
            </a:r>
            <a:endParaRPr sz="2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92088" y="76200"/>
            <a:ext cx="7808912" cy="5238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ENTROPY CHANGE OF PURE SUBSTANCES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76200" y="685800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is a property, and thus the value of entropy of a system is fixed once the state of the system is fixed. 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6781800" y="6062663"/>
            <a:ext cx="2057400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change</a:t>
            </a:r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3400" y="6399213"/>
            <a:ext cx="4387850" cy="38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875" y="1866900"/>
            <a:ext cx="351472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0" y="685800"/>
            <a:ext cx="5257800" cy="4551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00475" y="5305425"/>
            <a:ext cx="298132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Entropy Change of a Substance in a Tank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rigid tank contains 5 kg of R-134a initially at 20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and 140 kPa. The R-134a is now cooled while being stirred until its pressure drops to 100 kPa. Determine the entropy change of the R-134a during this process.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 l="19977" t="56561" r="11763"/>
          <a:stretch/>
        </p:blipFill>
        <p:spPr>
          <a:xfrm>
            <a:off x="457200" y="2819400"/>
            <a:ext cx="3124200" cy="274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5038600" y="3337650"/>
            <a:ext cx="2051700" cy="639900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hlinkClick r:id="rId4"/>
              </a:rPr>
              <a:t>Solution</a:t>
            </a:r>
            <a:endParaRPr sz="2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Entropy Change during a Constant Pressure Process</a:t>
            </a: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4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1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piston cylinder device initially contains 3 lbm of liquid water at 20 psia and 70°</a:t>
            </a:r>
            <a:r>
              <a:rPr lang="en-US"/>
              <a:t>F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water is now heated at constant pressure by the addition of 3450 Btu of heat. Determine the entropy change of the water during this process.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4"/>
          <p:cNvPicPr preferRelativeResize="0"/>
          <p:nvPr/>
        </p:nvPicPr>
        <p:blipFill rotWithShape="1">
          <a:blip r:embed="rId3">
            <a:alphaModFix/>
          </a:blip>
          <a:srcRect l="17947" t="60944" r="31203"/>
          <a:stretch/>
        </p:blipFill>
        <p:spPr>
          <a:xfrm>
            <a:off x="0" y="2526733"/>
            <a:ext cx="3886200" cy="380898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 txBox="1">
            <a:spLocks noGrp="1"/>
          </p:cNvSpPr>
          <p:nvPr>
            <p:ph type="title"/>
          </p:nvPr>
        </p:nvSpPr>
        <p:spPr>
          <a:xfrm>
            <a:off x="5294975" y="3337650"/>
            <a:ext cx="2051700" cy="639900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hlinkClick r:id="rId4"/>
              </a:rPr>
              <a:t>Solution</a:t>
            </a:r>
            <a:endParaRPr sz="2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381000" y="228600"/>
            <a:ext cx="5410200" cy="57943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ISENTROPIC</a:t>
            </a: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PROCESSES</a:t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304800" y="974725"/>
            <a:ext cx="7391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process during which the entropy remains constant is called an </a:t>
            </a:r>
            <a:r>
              <a:rPr lang="en-US" sz="20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isentropic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process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18" name="Google Shape;21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5288" y="1524000"/>
            <a:ext cx="2881312" cy="395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800" y="1524000"/>
            <a:ext cx="1474788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1752600"/>
            <a:ext cx="3324225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91000" y="2057400"/>
            <a:ext cx="4048125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Expansion of Steam in a Turbine</a:t>
            </a:r>
            <a:endParaRPr sz="2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1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Steam enters an adiabatic turbine at 5 MPa and 450°C and leaves at a pressure of 1.2 MPa. Determine the work output of the turbine per unit mass of steam if the process is reversible.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3546150" y="3109050"/>
            <a:ext cx="2051700" cy="639900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hlinkClick r:id="rId3"/>
              </a:rPr>
              <a:t>Solution</a:t>
            </a:r>
            <a:endParaRPr sz="2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228600" y="219075"/>
            <a:ext cx="8610600" cy="5492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PROPERTY DIAGRAMS INVOLVING ENTROPY</a:t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3352800" y="1474788"/>
            <a:ext cx="1828800" cy="256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On a </a:t>
            </a:r>
            <a:r>
              <a:rPr lang="en-US" sz="1800" i="1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T-S </a:t>
            </a: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diagram, the area under the process curve represents the heat transfer for internally reversible processes.</a:t>
            </a:r>
            <a:endParaRPr/>
          </a:p>
        </p:txBody>
      </p:sp>
      <p:grpSp>
        <p:nvGrpSpPr>
          <p:cNvPr id="237" name="Google Shape;237;p27"/>
          <p:cNvGrpSpPr/>
          <p:nvPr/>
        </p:nvGrpSpPr>
        <p:grpSpPr>
          <a:xfrm>
            <a:off x="381000" y="4267200"/>
            <a:ext cx="3497263" cy="2097088"/>
            <a:chOff x="384" y="2554"/>
            <a:chExt cx="2203" cy="1321"/>
          </a:xfrm>
        </p:grpSpPr>
        <p:pic>
          <p:nvPicPr>
            <p:cNvPr id="238" name="Google Shape;238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" y="2688"/>
              <a:ext cx="976" cy="1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40" y="2554"/>
              <a:ext cx="1147" cy="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0" y="3264"/>
              <a:ext cx="914" cy="1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440" y="3120"/>
              <a:ext cx="1069" cy="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84" y="3696"/>
              <a:ext cx="976" cy="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440" y="3696"/>
              <a:ext cx="882" cy="1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27"/>
          <p:cNvSpPr txBox="1"/>
          <p:nvPr/>
        </p:nvSpPr>
        <p:spPr>
          <a:xfrm>
            <a:off x="5181600" y="5943600"/>
            <a:ext cx="3733800" cy="36671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Mollier</a:t>
            </a:r>
            <a:r>
              <a:rPr lang="en-US" sz="1800" b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 diagram</a:t>
            </a:r>
            <a:r>
              <a:rPr lang="en-US" sz="18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h-s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diagram</a:t>
            </a:r>
            <a:endParaRPr/>
          </a:p>
        </p:txBody>
      </p:sp>
      <p:pic>
        <p:nvPicPr>
          <p:cNvPr id="245" name="Google Shape;245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8600" y="876300"/>
            <a:ext cx="31146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38750" y="914400"/>
            <a:ext cx="367665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0763" y="1143000"/>
            <a:ext cx="4562475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4200" y="419100"/>
            <a:ext cx="234315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" y="1066800"/>
            <a:ext cx="367665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304800" y="207963"/>
            <a:ext cx="4267200" cy="57943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WHAT IS ENTROPY?</a:t>
            </a:r>
            <a:endParaRPr/>
          </a:p>
        </p:txBody>
      </p:sp>
      <p:sp>
        <p:nvSpPr>
          <p:cNvPr id="261" name="Google Shape;261;p29"/>
          <p:cNvSpPr/>
          <p:nvPr/>
        </p:nvSpPr>
        <p:spPr>
          <a:xfrm>
            <a:off x="3810000" y="5027613"/>
            <a:ext cx="2895600" cy="17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A pure crystalline substance at absolute zero temperature is in perfect order, and its entropy is zero (</a:t>
            </a:r>
            <a:r>
              <a:rPr lang="en-US" sz="1800" b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 b="1" u="sng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third law</a:t>
            </a:r>
            <a:r>
              <a:rPr lang="en-US" sz="1800" b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 of thermodynamics</a:t>
            </a: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pic>
        <p:nvPicPr>
          <p:cNvPr id="262" name="Google Shape;26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3400" y="1371600"/>
            <a:ext cx="12001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9"/>
          <p:cNvSpPr/>
          <p:nvPr/>
        </p:nvSpPr>
        <p:spPr>
          <a:xfrm>
            <a:off x="3962400" y="990600"/>
            <a:ext cx="20955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Boltzmann relation</a:t>
            </a:r>
            <a:endParaRPr/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8600" y="2438400"/>
            <a:ext cx="21240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/>
          <p:nvPr/>
        </p:nvSpPr>
        <p:spPr>
          <a:xfrm>
            <a:off x="3962400" y="2068513"/>
            <a:ext cx="20351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Gibbs’ formulation</a:t>
            </a:r>
            <a:endParaRPr sz="1800" u="sng">
              <a:solidFill>
                <a:srgbClr val="CC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6172200" y="990600"/>
            <a:ext cx="28194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8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total number of possible relevant microstates of the system</a:t>
            </a:r>
            <a:endParaRPr/>
          </a:p>
        </p:txBody>
      </p:sp>
      <p:sp>
        <p:nvSpPr>
          <p:cNvPr id="267" name="Google Shape;267;p29"/>
          <p:cNvSpPr/>
          <p:nvPr/>
        </p:nvSpPr>
        <p:spPr>
          <a:xfrm>
            <a:off x="4038600" y="2895600"/>
            <a:ext cx="4191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i="1" baseline="-250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 of all microstates’ uncertainties, i.e., probabilities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86200" y="3752850"/>
            <a:ext cx="2743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9"/>
          <p:cNvSpPr/>
          <p:nvPr/>
        </p:nvSpPr>
        <p:spPr>
          <a:xfrm>
            <a:off x="4114800" y="4202113"/>
            <a:ext cx="2211388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Boltzmann constant</a:t>
            </a:r>
            <a:endParaRPr sz="1800">
              <a:solidFill>
                <a:srgbClr val="CC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34175" y="3848100"/>
            <a:ext cx="22574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" y="638175"/>
            <a:ext cx="41529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5350" y="633413"/>
            <a:ext cx="4057650" cy="55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066800"/>
            <a:ext cx="4095750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2025" y="1400175"/>
            <a:ext cx="4067175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2"/>
          <p:cNvSpPr/>
          <p:nvPr/>
        </p:nvSpPr>
        <p:spPr>
          <a:xfrm>
            <a:off x="381000" y="228600"/>
            <a:ext cx="4495800" cy="57943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200" b="1" i="1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 ds </a:t>
            </a: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RELATIONS</a:t>
            </a:r>
            <a:endParaRPr/>
          </a:p>
        </p:txBody>
      </p:sp>
      <p:pic>
        <p:nvPicPr>
          <p:cNvPr id="291" name="Google Shape;29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6113" y="4049713"/>
            <a:ext cx="4535487" cy="598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727450"/>
            <a:ext cx="1228725" cy="23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95800" y="5181600"/>
            <a:ext cx="1697038" cy="59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800" y="5832475"/>
            <a:ext cx="1697038" cy="568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32"/>
          <p:cNvGrpSpPr/>
          <p:nvPr/>
        </p:nvGrpSpPr>
        <p:grpSpPr>
          <a:xfrm>
            <a:off x="4724400" y="1120775"/>
            <a:ext cx="3810000" cy="2646374"/>
            <a:chOff x="2976" y="409"/>
            <a:chExt cx="2400" cy="1667"/>
          </a:xfrm>
        </p:grpSpPr>
        <p:pic>
          <p:nvPicPr>
            <p:cNvPr id="296" name="Google Shape;296;p3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024" y="409"/>
              <a:ext cx="1676" cy="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3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024" y="672"/>
              <a:ext cx="1162" cy="4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3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024" y="1248"/>
              <a:ext cx="1815" cy="1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3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021" y="1584"/>
              <a:ext cx="1971" cy="1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32"/>
            <p:cNvSpPr/>
            <p:nvPr/>
          </p:nvSpPr>
          <p:spPr>
            <a:xfrm>
              <a:off x="2976" y="1776"/>
              <a:ext cx="24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CC"/>
                  </a:solidFill>
                  <a:latin typeface="Arial"/>
                  <a:ea typeface="Arial"/>
                  <a:cs typeface="Arial"/>
                  <a:sym typeface="Arial"/>
                </a:rPr>
                <a:t>the first </a:t>
              </a:r>
              <a:r>
                <a:rPr lang="en-US" sz="1800" i="1">
                  <a:solidFill>
                    <a:srgbClr val="CC00CC"/>
                  </a:solidFill>
                  <a:latin typeface="Arial"/>
                  <a:ea typeface="Arial"/>
                  <a:cs typeface="Arial"/>
                  <a:sym typeface="Arial"/>
                </a:rPr>
                <a:t>T ds</a:t>
              </a:r>
              <a:r>
                <a:rPr lang="en-US" sz="1800">
                  <a:solidFill>
                    <a:srgbClr val="CC00CC"/>
                  </a:solidFill>
                  <a:latin typeface="Arial"/>
                  <a:ea typeface="Arial"/>
                  <a:cs typeface="Arial"/>
                  <a:sym typeface="Arial"/>
                </a:rPr>
                <a:t>, or </a:t>
              </a:r>
              <a:r>
                <a:rPr lang="en-US" sz="1800" i="1">
                  <a:solidFill>
                    <a:srgbClr val="CC00CC"/>
                  </a:solidFill>
                  <a:latin typeface="Arial"/>
                  <a:ea typeface="Arial"/>
                  <a:cs typeface="Arial"/>
                  <a:sym typeface="Arial"/>
                </a:rPr>
                <a:t>Gibbs</a:t>
              </a:r>
              <a:r>
                <a:rPr lang="en-US" sz="1800">
                  <a:solidFill>
                    <a:srgbClr val="CC00C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800" i="1">
                  <a:solidFill>
                    <a:srgbClr val="CC00CC"/>
                  </a:solidFill>
                  <a:latin typeface="Arial"/>
                  <a:ea typeface="Arial"/>
                  <a:cs typeface="Arial"/>
                  <a:sym typeface="Arial"/>
                </a:rPr>
                <a:t>equation</a:t>
              </a:r>
              <a:endParaRPr/>
            </a:p>
          </p:txBody>
        </p:sp>
      </p:grpSp>
      <p:sp>
        <p:nvSpPr>
          <p:cNvPr id="301" name="Google Shape;301;p32"/>
          <p:cNvSpPr/>
          <p:nvPr/>
        </p:nvSpPr>
        <p:spPr>
          <a:xfrm>
            <a:off x="6248400" y="4662488"/>
            <a:ext cx="2749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the second </a:t>
            </a:r>
            <a:r>
              <a:rPr lang="en-US" sz="1800" i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Tds equation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6248400" y="5408613"/>
            <a:ext cx="2286000" cy="91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Differential changes in entropy in terms of other properties</a:t>
            </a:r>
            <a:endParaRPr/>
          </a:p>
        </p:txBody>
      </p:sp>
      <p:pic>
        <p:nvPicPr>
          <p:cNvPr id="303" name="Google Shape;303;p3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2425" y="1123950"/>
            <a:ext cx="3838575" cy="43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3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7162800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310" name="Google Shape;310;p33"/>
          <p:cNvSpPr txBox="1">
            <a:spLocks noGrp="1"/>
          </p:cNvSpPr>
          <p:nvPr>
            <p:ph type="body" idx="1"/>
          </p:nvPr>
        </p:nvSpPr>
        <p:spPr>
          <a:xfrm>
            <a:off x="609600" y="838200"/>
            <a:ext cx="65532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Entropy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Increase of entropy principle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Entropy change of pure substances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Isentropic processes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Property diagrams involving entropy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entropy?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200" b="0" i="1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Tds </a:t>
            </a:r>
            <a:r>
              <a:rPr lang="en-US" sz="2200" b="0" i="0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relations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803</Words>
  <Application>Microsoft Office PowerPoint</Application>
  <PresentationFormat>On-screen Show (4:3)</PresentationFormat>
  <Paragraphs>92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Noto Sans Symbols</vt:lpstr>
      <vt:lpstr>Times New Roman</vt:lpstr>
      <vt:lpstr>Default Design</vt:lpstr>
      <vt:lpstr>Topic 13 ENTROPY</vt:lpstr>
      <vt:lpstr>PowerPoint Presentation</vt:lpstr>
      <vt:lpstr>PowerPoint Presentation</vt:lpstr>
      <vt:lpstr>PowerPoint Presentation</vt:lpstr>
      <vt:lpstr>Entropy Change Example</vt:lpstr>
      <vt:lpstr>PowerPoint Presentation</vt:lpstr>
      <vt:lpstr>PowerPoint Presentation</vt:lpstr>
      <vt:lpstr>PowerPoint Presentation</vt:lpstr>
      <vt:lpstr>Entropy Generation during Heat Transfer</vt:lpstr>
      <vt:lpstr>PowerPoint Presentation</vt:lpstr>
      <vt:lpstr>Entropy Change of a Substance in a Tank</vt:lpstr>
      <vt:lpstr>Entropy Change during a Constant Pressure Process</vt:lpstr>
      <vt:lpstr>PowerPoint Presentation</vt:lpstr>
      <vt:lpstr>Expansion of Steam in a Turbine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222 - 13.Entropy</dc:title>
  <dc:creator>wlong</dc:creator>
  <cp:lastModifiedBy>William Long</cp:lastModifiedBy>
  <cp:revision>5</cp:revision>
  <dcterms:modified xsi:type="dcterms:W3CDTF">2024-01-21T23:35:23Z</dcterms:modified>
</cp:coreProperties>
</file>